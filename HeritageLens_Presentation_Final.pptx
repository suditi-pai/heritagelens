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7"/>
    <p:sldId id="262" r:id="rId8"/>
    <p:sldId id="263" r:id="rId5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7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8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2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HeritageLens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Indian Art and Cultural Heritage Recognition System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(MobileNetV2 Transfer Learning)  |  Flask REST API  |  HTML / CSS / JavaScript</a:t>
            </a:r>
            <a:endParaRPr lang="en-US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4000500"/>
            <a:ext cx="786384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Suditi S Pai  |  USN: 4AL23CS163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Varshitha V Shetty  |  USN: 4AL23CS180</a:t>
            </a:r>
          </a:p>
        </p:txBody>
      </p:sp>
      <p:pic>
        <p:nvPicPr>
          <p:cNvPr id="6" name="Picture 5" descr="rich_p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-640080"/>
            <a:ext cx="3017520" cy="3017520"/>
          </a:xfrm>
          <a:prstGeom prst="rect">
            <a:avLst/>
          </a:prstGeom>
        </p:spPr>
      </p:pic>
      <p:pic>
        <p:nvPicPr>
          <p:cNvPr id="7" name="Picture 6" descr="rich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60000">
            <a:off x="6583680" y="2743200"/>
            <a:ext cx="3291840" cy="3291840"/>
          </a:xfrm>
          <a:prstGeom prst="rect">
            <a:avLst/>
          </a:prstGeom>
        </p:spPr>
      </p:pic>
      <p:pic>
        <p:nvPicPr>
          <p:cNvPr id="8" name="Picture 7" descr="rich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0000">
            <a:off x="-640080" y="-640080"/>
            <a:ext cx="1828800" cy="1828800"/>
          </a:xfrm>
          <a:prstGeom prst="rect">
            <a:avLst/>
          </a:prstGeom>
        </p:spPr>
      </p:pic>
      <p:pic>
        <p:nvPicPr>
          <p:cNvPr id="9" name="Picture 8" descr="rich_pea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Many people know little about India's traditional art forms, and there is no simple tool to identify an artwork from a photo and learn about it.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7A2E1D"/>
                </a:solidFill>
                <a:latin typeface="Calibri"/>
              </a:rPr>
              <a:t>Motivation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Make learning about Indian art quick, visual, and interactive using AI.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1. Recognize 10 Indian art forms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2. Show prediction with confidence %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3. Provide cultural information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4. Explore, search, and filter heritage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5. Keep local recognition history</a:t>
            </a:r>
          </a:p>
        </p:txBody>
      </p:sp>
      <p:pic>
        <p:nvPicPr>
          <p:cNvPr id="7" name="Picture 6" descr="m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and 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56232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/api/predict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55264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55264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 + NumPy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54296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7A2E1D"/>
          </a:solidFill>
          <a:ln w="12700">
            <a:solidFill>
              <a:srgbClr val="7A2E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4296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53328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53328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1005840"/>
            <a:ext cx="1234440" cy="822960"/>
          </a:xfrm>
          <a:prstGeom prst="roundRect">
            <a:avLst>
              <a:gd name="adj" fmla="val 615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005840"/>
            <a:ext cx="123444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+ confidence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51960"/>
            <a:ext cx="8229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 b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separate, so any part can be upgraded easily.</a:t>
            </a:r>
            <a:endParaRPr lang="en-US" sz="1500" dirty="0"/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1954530" cy="2011680"/>
          </a:xfrm>
          <a:prstGeom prst="roundRect">
            <a:avLst>
              <a:gd name="adj" fmla="val 3000"/>
            </a:avLst>
          </a:prstGeom>
          <a:solidFill>
            <a:srgbClr val="F6ECE7"/>
          </a:solidFill>
          <a:ln>
            <a:solidFill>
              <a:srgbClr val="F6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148840"/>
            <a:ext cx="173507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2E1D"/>
                </a:solidFill>
                <a:latin typeface="Calibri"/>
              </a:rPr>
              <a:t>Frontend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D16"/>
                </a:solidFill>
                <a:latin typeface="Calibri"/>
              </a:rPr>
              <a:t>HTML, CSS, JavaScript, and localStorage for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8890" y="2057400"/>
            <a:ext cx="1954530" cy="2011680"/>
          </a:xfrm>
          <a:prstGeom prst="roundRect">
            <a:avLst>
              <a:gd name="adj" fmla="val 3000"/>
            </a:avLst>
          </a:prstGeom>
          <a:solidFill>
            <a:srgbClr val="F6ECE7"/>
          </a:solidFill>
          <a:ln>
            <a:solidFill>
              <a:srgbClr val="F6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8618" y="2148840"/>
            <a:ext cx="173507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2E1D"/>
                </a:solidFill>
                <a:latin typeface="Calibri"/>
              </a:rPr>
              <a:t>Backend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D16"/>
                </a:solidFill>
                <a:latin typeface="Calibri"/>
              </a:rPr>
              <a:t>Python, Flask, Pillow, and NumPy.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0580" y="2057400"/>
            <a:ext cx="1954530" cy="2011680"/>
          </a:xfrm>
          <a:prstGeom prst="roundRect">
            <a:avLst>
              <a:gd name="adj" fmla="val 3000"/>
            </a:avLst>
          </a:prstGeom>
          <a:solidFill>
            <a:srgbClr val="F6ECE7"/>
          </a:solidFill>
          <a:ln>
            <a:solidFill>
              <a:srgbClr val="F6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0308" y="2148840"/>
            <a:ext cx="173507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2E1D"/>
                </a:solidFill>
                <a:latin typeface="Calibri"/>
              </a:rPr>
              <a:t>AI / ML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D16"/>
                </a:solidFill>
                <a:latin typeface="Calibri"/>
              </a:rPr>
              <a:t>TensorFlow / Keras, MobileNetV2, and Adam optimizer.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2270" y="2057400"/>
            <a:ext cx="1954530" cy="2011680"/>
          </a:xfrm>
          <a:prstGeom prst="roundRect">
            <a:avLst>
              <a:gd name="adj" fmla="val 3000"/>
            </a:avLst>
          </a:prstGeom>
          <a:solidFill>
            <a:srgbClr val="F6ECE7"/>
          </a:solidFill>
          <a:ln>
            <a:solidFill>
              <a:srgbClr val="F6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41998" y="2148840"/>
            <a:ext cx="173507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A2E1D"/>
                </a:solidFill>
                <a:latin typeface="Calibri"/>
              </a:rPr>
              <a:t>API and Data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B1D16"/>
                </a:solidFill>
                <a:latin typeface="Calibri"/>
              </a:rPr>
              <a:t>REST API (/api/predict) and a JSON knowledge base.</a:t>
            </a:r>
          </a:p>
        </p:txBody>
      </p:sp>
      <p:pic>
        <p:nvPicPr>
          <p:cNvPr id="24" name="Picture 23" descr="m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CNN with Transfer Learning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CNN works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Filters detect edges and textures, deeper layers find shapes and patterns, and softmax gives a probability for each art form.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7A2E1D"/>
                </a:solidFill>
                <a:latin typeface="Calibri"/>
              </a:rPr>
              <a:t>Why transfer learning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MobileNetV2 is already pretrained, so only a small classifier is trained. This needs less data and time.</a:t>
            </a:r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(MobileNetV2)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1. RandomFlip, RandomRotation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2. Rescaling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3. MobileNetV2 pretrained base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4. GlobalAveragePooling2D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5. Dropout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6. Dense + softmax (10 classes)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Trained with Adam optimizer.</a:t>
            </a:r>
          </a:p>
        </p:txBody>
      </p:sp>
      <p:pic>
        <p:nvPicPr>
          <p:cNvPr id="7" name="Picture 6" descr="m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Output</a:t>
            </a:r>
            <a:endParaRPr lang="en-US" sz="2800" dirty="0"/>
          </a:p>
        </p:txBody>
      </p:sp>
      <p:pic>
        <p:nvPicPr>
          <p:cNvPr id="3" name="Image 0" descr="/mnt/user-data/uploads/WhatsApp_Image_2026-09-29_at_1_45_09_PM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697480" cy="12222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2697480" cy="1222296"/>
          </a:xfrm>
          <a:prstGeom prst="rect">
            <a:avLst/>
          </a:prstGeom>
          <a:ln w="9525">
            <a:solidFill>
              <a:srgbClr val="C9B8B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2128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1100" dirty="0"/>
          </a:p>
        </p:txBody>
      </p:sp>
      <p:pic>
        <p:nvPicPr>
          <p:cNvPr id="6" name="Image 1" descr="/mnt/user-data/uploads/WhatsApp_Image_2026-09-29_at_1_45_09_PM__1_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914400"/>
            <a:ext cx="2697480" cy="126613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246120" y="914400"/>
            <a:ext cx="2697480" cy="1266130"/>
          </a:xfrm>
          <a:prstGeom prst="rect">
            <a:avLst/>
          </a:prstGeom>
          <a:ln w="9525">
            <a:solidFill>
              <a:srgbClr val="C9B8B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246120" y="22128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Art with recent recognitions</a:t>
            </a:r>
            <a:endParaRPr lang="en-US" sz="1100" dirty="0"/>
          </a:p>
        </p:txBody>
      </p:sp>
      <p:pic>
        <p:nvPicPr>
          <p:cNvPr id="9" name="Image 2" descr="/mnt/user-data/uploads/WhatsApp_Image_2026-09-29_at_1_45_10_P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914400"/>
            <a:ext cx="2697480" cy="12644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035040" y="914400"/>
            <a:ext cx="2697480" cy="1264444"/>
          </a:xfrm>
          <a:prstGeom prst="rect">
            <a:avLst/>
          </a:prstGeom>
          <a:ln w="9525">
            <a:solidFill>
              <a:srgbClr val="C9B8B0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035040" y="221284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Heritage: search and filters</a:t>
            </a:r>
            <a:endParaRPr lang="en-US" sz="1100" dirty="0"/>
          </a:p>
        </p:txBody>
      </p:sp>
      <p:pic>
        <p:nvPicPr>
          <p:cNvPr id="12" name="Image 3" descr="/mnt/user-data/uploads/WhatsApp_Image_2026-09-29_at_1_45_10_PM__1_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606040"/>
            <a:ext cx="2697480" cy="1237469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2606040"/>
            <a:ext cx="2697480" cy="1237469"/>
          </a:xfrm>
          <a:prstGeom prst="rect">
            <a:avLst/>
          </a:prstGeom>
          <a:ln w="9525">
            <a:solidFill>
              <a:srgbClr val="C9B8B0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57200" y="39044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Dynasties &amp; Heritage</a:t>
            </a:r>
            <a:endParaRPr lang="en-US" sz="1100" dirty="0"/>
          </a:p>
        </p:txBody>
      </p:sp>
      <p:pic>
        <p:nvPicPr>
          <p:cNvPr id="15" name="Image 4" descr="/mnt/user-data/uploads/WhatsApp_Image_2026-09-29_at_10_04_23_AM__2_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606040"/>
            <a:ext cx="2697480" cy="1245899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246120" y="2606040"/>
            <a:ext cx="2697480" cy="1245899"/>
          </a:xfrm>
          <a:prstGeom prst="rect">
            <a:avLst/>
          </a:prstGeom>
          <a:ln w="9525">
            <a:solidFill>
              <a:srgbClr val="C9B8B0"/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3246120" y="390448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Warli, 61.1% confidence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035040" y="2606040"/>
            <a:ext cx="2697480" cy="1280160"/>
          </a:xfrm>
          <a:prstGeom prst="roundRect">
            <a:avLst>
              <a:gd name="adj" fmla="val 5714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172200" y="26974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art form, confidence, other candidates, and cultural details. Recent results (e.g. Tanjore Painting 96.9%) are kept in history.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Dynasties &amp; Heritage: </a:t>
            </a:r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Maurya, Gupta, Pallava, Chalukya, Rashtrakuta, and Chola dynasties with era, region, and search and era filters.</a:t>
            </a:r>
            <a:endParaRPr lang="en-US" sz="1300" dirty="0"/>
          </a:p>
        </p:txBody>
      </p:sp>
      <p:pic>
        <p:nvPicPr>
          <p:cNvPr id="21" name="Picture 20" descr="m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Scope,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377440"/>
          </a:xfrm>
          <a:prstGeom prst="roundRect">
            <a:avLst>
              <a:gd name="adj" fmla="val 3478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Accuracy depends on dataset quality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Similar styles can be confused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Only 10 art forms supported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Out-of-set images get a closest match</a:t>
            </a:r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478"/>
            </a:avLst>
          </a:prstGeom>
          <a:solidFill>
            <a:srgbClr val="F6ECE7"/>
          </a:solidFill>
          <a:ln w="12700">
            <a:solidFill>
              <a:srgbClr val="F6EC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18872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More art forms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"Unknown" threshold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Grad-CAM explanations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B1D16"/>
                </a:solidFill>
                <a:latin typeface="Calibri"/>
              </a:rPr>
              <a:t>- Multiple languages and mobile app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457200" y="3611880"/>
            <a:ext cx="82296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7A2E1D"/>
                </a:solidFill>
                <a:latin typeface="Calibri"/>
              </a:rPr>
              <a:t>HeritageLens uses AI to help people understand, explore, and preserve India's art heritage. Predictions are educational guidance.</a:t>
            </a:r>
          </a:p>
        </p:txBody>
      </p:sp>
      <p:pic>
        <p:nvPicPr>
          <p:cNvPr id="8" name="Picture 7" descr="m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E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-640080"/>
            <a:ext cx="3017520" cy="30175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60000">
            <a:off x="6583680" y="2743200"/>
            <a:ext cx="3291840" cy="32918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60000">
            <a:off x="-640080" y="-640080"/>
            <a:ext cx="1828800" cy="1828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41605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2026-09-29T08:16:23Z</dcterms:created>
  <dcterms:modified xsi:type="dcterms:W3CDTF">2026-09-29T08:16:23Z</dcterms:modified>
</cp:coreProperties>
</file>